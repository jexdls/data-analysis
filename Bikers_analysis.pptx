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Tahom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765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gTv7p6VRaOeLMk+hVhFpxDsdHA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76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Tahoma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Tahom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198800" y="914400"/>
            <a:ext cx="97992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1990800" y="3848400"/>
            <a:ext cx="77688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1990800" y="4615200"/>
            <a:ext cx="77688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608400" y="1501200"/>
            <a:ext cx="51768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608400" y="1429200"/>
            <a:ext cx="5342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235750" y="1421729"/>
            <a:ext cx="5342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235750" y="1854000"/>
            <a:ext cx="5342400" cy="4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/>
          <p:nvPr>
            <p:ph idx="2" type="pic"/>
          </p:nvPr>
        </p:nvSpPr>
        <p:spPr>
          <a:xfrm>
            <a:off x="608400" y="1555200"/>
            <a:ext cx="5233077" cy="4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21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0150" spcFirstLastPara="1" rIns="90150" wrap="square" tIns="46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 rot="5400000">
            <a:off x="8242200" y="2907000"/>
            <a:ext cx="50292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" type="body"/>
          </p:nvPr>
        </p:nvSpPr>
        <p:spPr>
          <a:xfrm rot="5400000">
            <a:off x="2984400" y="-1155600"/>
            <a:ext cx="5029200" cy="9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6800" spcFirstLastPara="1" rIns="468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302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lvl2pPr>
            <a:lvl3pPr indent="-3302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lvl3pPr>
            <a:lvl4pPr indent="-3175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23"/>
          <p:cNvSpPr txBox="1"/>
          <p:nvPr>
            <p:ph idx="1" type="body"/>
          </p:nvPr>
        </p:nvSpPr>
        <p:spPr>
          <a:xfrm>
            <a:off x="608400" y="774000"/>
            <a:ext cx="10972800" cy="54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 Slide">
  <p:cSld name="Last Slid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24"/>
          <p:cNvSpPr txBox="1"/>
          <p:nvPr>
            <p:ph type="title"/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" type="body"/>
          </p:nvPr>
        </p:nvSpPr>
        <p:spPr>
          <a:xfrm>
            <a:off x="1198800" y="3560400"/>
            <a:ext cx="97992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ctrTitle"/>
          </p:nvPr>
        </p:nvSpPr>
        <p:spPr>
          <a:xfrm>
            <a:off x="1198800" y="914400"/>
            <a:ext cx="97992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" type="subTitle"/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7" name="Google Shape;87;p14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1990800" y="3848400"/>
            <a:ext cx="77688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1990800" y="4615200"/>
            <a:ext cx="77688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1" type="body"/>
          </p:nvPr>
        </p:nvSpPr>
        <p:spPr>
          <a:xfrm>
            <a:off x="608400" y="1501200"/>
            <a:ext cx="51768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2" type="body"/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7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8"/>
          <p:cNvSpPr txBox="1"/>
          <p:nvPr>
            <p:ph idx="1" type="body"/>
          </p:nvPr>
        </p:nvSpPr>
        <p:spPr>
          <a:xfrm>
            <a:off x="608400" y="1429200"/>
            <a:ext cx="5342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2" name="Google Shape;112;p28"/>
          <p:cNvSpPr txBox="1"/>
          <p:nvPr>
            <p:ph idx="2" type="body"/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3" type="body"/>
          </p:nvPr>
        </p:nvSpPr>
        <p:spPr>
          <a:xfrm>
            <a:off x="6235750" y="1421729"/>
            <a:ext cx="5342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8"/>
          <p:cNvSpPr txBox="1"/>
          <p:nvPr>
            <p:ph idx="4" type="body"/>
          </p:nvPr>
        </p:nvSpPr>
        <p:spPr>
          <a:xfrm>
            <a:off x="6235750" y="1854000"/>
            <a:ext cx="5342400" cy="4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9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/>
          <p:nvPr>
            <p:ph idx="2" type="pic"/>
          </p:nvPr>
        </p:nvSpPr>
        <p:spPr>
          <a:xfrm>
            <a:off x="608400" y="1555200"/>
            <a:ext cx="5233077" cy="4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1"/>
          <p:cNvSpPr txBox="1"/>
          <p:nvPr>
            <p:ph idx="1" type="body"/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1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31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0150" spcFirstLastPara="1" rIns="90150" wrap="square" tIns="46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/>
          <p:nvPr>
            <p:ph type="title"/>
          </p:nvPr>
        </p:nvSpPr>
        <p:spPr>
          <a:xfrm rot="5400000">
            <a:off x="8242200" y="2907000"/>
            <a:ext cx="50292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2"/>
          <p:cNvSpPr txBox="1"/>
          <p:nvPr>
            <p:ph idx="1" type="body"/>
          </p:nvPr>
        </p:nvSpPr>
        <p:spPr>
          <a:xfrm rot="5400000">
            <a:off x="2984400" y="-1155600"/>
            <a:ext cx="5029200" cy="9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6800" spcFirstLastPara="1" rIns="468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302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lvl2pPr>
            <a:lvl3pPr indent="-3302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lvl3pPr>
            <a:lvl4pPr indent="-3175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32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2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3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3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3"/>
          <p:cNvSpPr txBox="1"/>
          <p:nvPr>
            <p:ph idx="1" type="body"/>
          </p:nvPr>
        </p:nvSpPr>
        <p:spPr>
          <a:xfrm>
            <a:off x="608400" y="774000"/>
            <a:ext cx="10972800" cy="54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 Slide">
  <p:cSld name="Last Slide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4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34"/>
          <p:cNvSpPr txBox="1"/>
          <p:nvPr>
            <p:ph type="title"/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1198800" y="3560400"/>
            <a:ext cx="97992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0150" spcFirstLastPara="1" rIns="90150" wrap="square" tIns="469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0150" spcFirstLastPara="1" rIns="90150" wrap="square" tIns="469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 txBox="1"/>
          <p:nvPr/>
        </p:nvSpPr>
        <p:spPr>
          <a:xfrm>
            <a:off x="1005840" y="5038090"/>
            <a:ext cx="8819515" cy="227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Case Study by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Jex De Los Santos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September 2, 2026</a:t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1788795" y="2477135"/>
            <a:ext cx="8615045" cy="1903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are subscribers different from one-time users?</a:t>
            </a:r>
            <a:endParaRPr b="1" i="0" sz="4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"/>
          <p:cNvSpPr txBox="1"/>
          <p:nvPr/>
        </p:nvSpPr>
        <p:spPr>
          <a:xfrm>
            <a:off x="871220" y="1153795"/>
            <a:ext cx="8819515" cy="227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are subscribers different from one-time users?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Subscribed bikers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riders who are part of an annual membership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One-time bikers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casual riders with no annual membership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376555" y="363855"/>
            <a:ext cx="4265930" cy="1167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Problem</a:t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"/>
          <p:cNvSpPr txBox="1"/>
          <p:nvPr/>
        </p:nvSpPr>
        <p:spPr>
          <a:xfrm>
            <a:off x="871220" y="1868170"/>
            <a:ext cx="6365240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One-time users tend to have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longer rides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than subscribers.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376555" y="363855"/>
            <a:ext cx="4265930" cy="1167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are subscribers different from one-time users?</a:t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9" name="Google Shape;169;p3"/>
          <p:cNvPicPr preferRelativeResize="0"/>
          <p:nvPr/>
        </p:nvPicPr>
        <p:blipFill rotWithShape="1">
          <a:blip r:embed="rId3">
            <a:alphaModFix/>
          </a:blip>
          <a:srcRect b="0" l="53777" r="0" t="15515"/>
          <a:stretch/>
        </p:blipFill>
        <p:spPr>
          <a:xfrm>
            <a:off x="7236460" y="1776730"/>
            <a:ext cx="3920490" cy="4685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871220" y="1421130"/>
            <a:ext cx="10466705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One-time users have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more number of rides as well as have longer rides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than subscribed bikers in the top 3 stations that most bike rides start at.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376555" y="363855"/>
            <a:ext cx="4265930" cy="1167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are subscribers different from one-time users?</a:t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6" name="Google Shape;176;p4"/>
          <p:cNvPicPr preferRelativeResize="0"/>
          <p:nvPr/>
        </p:nvPicPr>
        <p:blipFill rotWithShape="1">
          <a:blip r:embed="rId3">
            <a:alphaModFix/>
          </a:blip>
          <a:srcRect b="0" l="0" r="0" t="22138"/>
          <a:stretch/>
        </p:blipFill>
        <p:spPr>
          <a:xfrm>
            <a:off x="2093595" y="2790825"/>
            <a:ext cx="7767320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/>
        </p:nvSpPr>
        <p:spPr>
          <a:xfrm>
            <a:off x="871220" y="1868170"/>
            <a:ext cx="5085080" cy="219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During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weekdays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there is an increase of rides from subscribers, and a decrease of rides from one-time users. 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During the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weekends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there is an increase of one-time users.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376555" y="363855"/>
            <a:ext cx="4265930" cy="1167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are subscribers different from one-time users?</a:t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3" name="Google Shape;1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6935" y="1310640"/>
            <a:ext cx="5631180" cy="456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/>
        </p:nvSpPr>
        <p:spPr>
          <a:xfrm>
            <a:off x="871855" y="1531620"/>
            <a:ext cx="10431145" cy="219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One-time users have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longer rides from May to October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while subscribers have a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sustained duration of rides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throughout the year.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376555" y="363855"/>
            <a:ext cx="4265930" cy="1167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are subscribers different from one-time users?</a:t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0" name="Google Shape;190;p6"/>
          <p:cNvPicPr preferRelativeResize="0"/>
          <p:nvPr/>
        </p:nvPicPr>
        <p:blipFill rotWithShape="1">
          <a:blip r:embed="rId3">
            <a:alphaModFix/>
          </a:blip>
          <a:srcRect b="0" l="0" r="0" t="52238"/>
          <a:stretch/>
        </p:blipFill>
        <p:spPr>
          <a:xfrm>
            <a:off x="71120" y="2628265"/>
            <a:ext cx="12049760" cy="370078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"/>
          <p:cNvSpPr/>
          <p:nvPr/>
        </p:nvSpPr>
        <p:spPr>
          <a:xfrm>
            <a:off x="4184015" y="3646170"/>
            <a:ext cx="5842635" cy="106680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/>
        </p:nvSpPr>
        <p:spPr>
          <a:xfrm>
            <a:off x="871855" y="1531620"/>
            <a:ext cx="10431145" cy="219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One-time users have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longer duration of rides on special days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like February 14, 15, and 16 while subscribers have a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sustained duration of rides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throughout the days.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376555" y="363855"/>
            <a:ext cx="4265930" cy="1167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are subscribers different from one-time users?</a:t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8" name="Google Shape;1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2724150"/>
            <a:ext cx="11045825" cy="317754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/>
          <p:nvPr/>
        </p:nvSpPr>
        <p:spPr>
          <a:xfrm>
            <a:off x="5809615" y="3335655"/>
            <a:ext cx="1264920" cy="137731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 txBox="1"/>
          <p:nvPr/>
        </p:nvSpPr>
        <p:spPr>
          <a:xfrm>
            <a:off x="871855" y="1531620"/>
            <a:ext cx="10431145" cy="219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One-time rides have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longer duration of rides on special days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like December 25 while subscribers have a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sustained duration of rides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throughout the day.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376555" y="363855"/>
            <a:ext cx="4265930" cy="1167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are subscribers different from one-time users?</a:t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737485"/>
            <a:ext cx="10739120" cy="331406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8855710" y="3511550"/>
            <a:ext cx="819150" cy="147066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/>
        </p:nvSpPr>
        <p:spPr>
          <a:xfrm>
            <a:off x="2569845" y="2467610"/>
            <a:ext cx="725678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One-time users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appear to use bikes </a:t>
            </a:r>
            <a:r>
              <a:rPr lang="en-US" sz="1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primarily for leisure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while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subscribers 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appear to use it more frequently </a:t>
            </a:r>
            <a:r>
              <a:rPr lang="en-US" sz="1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routine activities such as commuting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1224455" y="1150201"/>
            <a:ext cx="42660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Conclusion</a:t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/>
        </p:nvSpPr>
        <p:spPr>
          <a:xfrm>
            <a:off x="2569845" y="1881390"/>
            <a:ext cx="7256700" cy="3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Create member-only offers that save money for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long rides during special days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like Christmas.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Promote these offers in the top 3 stations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Navy Pier, Michigan Ave &amp; Oak St., and DuSable Lake Shore Dr &amp; Monroe St. to maximize reaching one-time users.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Create enticing offers that are </a:t>
            </a: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available for members during weekends</a:t>
            </a: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1124705" y="1099533"/>
            <a:ext cx="42660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Recommendation</a:t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PS">
  <a:themeElements>
    <a:clrScheme name="WP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WPS">
  <a:themeElements>
    <a:clrScheme name="WP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2026-09-01T09:43:00Z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32189BA9623448EEA1CD970C09EE574A_12</vt:lpwstr>
  </property>
</Properties>
</file>